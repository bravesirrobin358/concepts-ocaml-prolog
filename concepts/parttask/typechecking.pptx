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57" r:id="rId4"/>
    <p:sldId id="265" r:id="rId5"/>
    <p:sldId id="266" r:id="rId6"/>
    <p:sldId id="259" r:id="rId7"/>
    <p:sldId id="267" r:id="rId8"/>
    <p:sldId id="258" r:id="rId9"/>
    <p:sldId id="260" r:id="rId10"/>
    <p:sldId id="261" r:id="rId11"/>
    <p:sldId id="269" r:id="rId12"/>
    <p:sldId id="268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FF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D125-F349-47D4-A13B-41ACB340EF1A}" type="datetimeFigureOut">
              <a:rPr lang="en-CA" smtClean="0"/>
              <a:t>2024-11-28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67EA-C522-43AB-A465-24A28F3B62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945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D125-F349-47D4-A13B-41ACB340EF1A}" type="datetimeFigureOut">
              <a:rPr lang="en-CA" smtClean="0"/>
              <a:t>2024-11-28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67EA-C522-43AB-A465-24A28F3B62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4035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D125-F349-47D4-A13B-41ACB340EF1A}" type="datetimeFigureOut">
              <a:rPr lang="en-CA" smtClean="0"/>
              <a:t>2024-11-28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67EA-C522-43AB-A465-24A28F3B62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3882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D125-F349-47D4-A13B-41ACB340EF1A}" type="datetimeFigureOut">
              <a:rPr lang="en-CA" smtClean="0"/>
              <a:t>2024-11-28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67EA-C522-43AB-A465-24A28F3B62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922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D125-F349-47D4-A13B-41ACB340EF1A}" type="datetimeFigureOut">
              <a:rPr lang="en-CA" smtClean="0"/>
              <a:t>2024-11-28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67EA-C522-43AB-A465-24A28F3B62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454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D125-F349-47D4-A13B-41ACB340EF1A}" type="datetimeFigureOut">
              <a:rPr lang="en-CA" smtClean="0"/>
              <a:t>2024-11-28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67EA-C522-43AB-A465-24A28F3B62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5653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D125-F349-47D4-A13B-41ACB340EF1A}" type="datetimeFigureOut">
              <a:rPr lang="en-CA" smtClean="0"/>
              <a:t>2024-11-28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67EA-C522-43AB-A465-24A28F3B62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8584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D125-F349-47D4-A13B-41ACB340EF1A}" type="datetimeFigureOut">
              <a:rPr lang="en-CA" smtClean="0"/>
              <a:t>2024-11-28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67EA-C522-43AB-A465-24A28F3B62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8505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85D9D125-F349-47D4-A13B-41ACB340EF1A}" type="datetimeFigureOut">
              <a:rPr lang="en-CA" smtClean="0"/>
              <a:t>2024-11-28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1DCD67EA-C522-43AB-A465-24A28F3B62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4937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D125-F349-47D4-A13B-41ACB340EF1A}" type="datetimeFigureOut">
              <a:rPr lang="en-CA" smtClean="0"/>
              <a:t>2024-11-28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67EA-C522-43AB-A465-24A28F3B62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677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D125-F349-47D4-A13B-41ACB340EF1A}" type="datetimeFigureOut">
              <a:rPr lang="en-CA" smtClean="0"/>
              <a:t>2024-11-28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67EA-C522-43AB-A465-24A28F3B62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23285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D125-F349-47D4-A13B-41ACB340EF1A}" type="datetimeFigureOut">
              <a:rPr lang="en-CA" smtClean="0"/>
              <a:t>2024-11-28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67EA-C522-43AB-A465-24A28F3B62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7703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D125-F349-47D4-A13B-41ACB340EF1A}" type="datetimeFigureOut">
              <a:rPr lang="en-CA" smtClean="0"/>
              <a:t>2024-11-28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67EA-C522-43AB-A465-24A28F3B62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8633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D125-F349-47D4-A13B-41ACB340EF1A}" type="datetimeFigureOut">
              <a:rPr lang="en-CA" smtClean="0"/>
              <a:t>2024-11-28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67EA-C522-43AB-A465-24A28F3B62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036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5D9D125-F349-47D4-A13B-41ACB340EF1A}" type="datetimeFigureOut">
              <a:rPr lang="en-CA" smtClean="0"/>
              <a:t>2024-11-28</a:t>
            </a:fld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1DCD67EA-C522-43AB-A465-24A28F3B62A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93324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visionx.io/blog/c-sharp-vs-java/#:~:text=Generics%20Implementation%3A%20Generics%20in%20Java,robust%20type%20checking%20and%20reflection" TargetMode="External"/><Relationship Id="rId2" Type="http://schemas.openxmlformats.org/officeDocument/2006/relationships/hyperlink" Target="https://ozanagma.medium.com/type-checking-in-java-b84d6f38ba8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ackoverflow.com/questions/46679484/golang-why-named-and-non-named-struct-comparison-with-equal-result" TargetMode="External"/><Relationship Id="rId5" Type="http://schemas.openxmlformats.org/officeDocument/2006/relationships/hyperlink" Target="https://learn.microsoft.com/en-us/dotnet/fundamentals/reflection/how-to-examine-and-instantiate-generic-types-with-reflection" TargetMode="External"/><Relationship Id="rId4" Type="http://schemas.openxmlformats.org/officeDocument/2006/relationships/hyperlink" Target="https://learn.adacore.com/courses/Ada_For_The_CPP_Java_Developer/chapters/05_Type_System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07BEA-2F17-A58F-44F6-AF53730BCD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Type checking in modern languages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B0D82-4361-1208-4571-F164166BCF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By Yannick Vaillancourt - 300226628</a:t>
            </a:r>
          </a:p>
        </p:txBody>
      </p:sp>
    </p:spTree>
    <p:extLst>
      <p:ext uri="{BB962C8B-B14F-4D97-AF65-F5344CB8AC3E}">
        <p14:creationId xmlns:p14="http://schemas.microsoft.com/office/powerpoint/2010/main" val="308669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C581E-C1AA-038A-EF34-6CB03DF20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 to Type Checking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08CBFA-24B4-E74C-9F31-37A02E825CD1}"/>
              </a:ext>
            </a:extLst>
          </p:cNvPr>
          <p:cNvSpPr txBox="1"/>
          <p:nvPr/>
        </p:nvSpPr>
        <p:spPr>
          <a:xfrm>
            <a:off x="1662545" y="2011680"/>
            <a:ext cx="8420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Statement A using Argument A &amp; Argument B = Valid or Invalid?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90925A-FC0B-269F-F755-28DD92043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599" y="2813794"/>
            <a:ext cx="6655723" cy="6867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AAA2F5-F62C-AB07-AA3E-757342CDCBD3}"/>
              </a:ext>
            </a:extLst>
          </p:cNvPr>
          <p:cNvSpPr txBox="1"/>
          <p:nvPr/>
        </p:nvSpPr>
        <p:spPr>
          <a:xfrm>
            <a:off x="951806" y="2881967"/>
            <a:ext cx="8420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Compilation Error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3D3CF9-8AFC-84E4-E3D5-B6D6BCFAC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00" y="4044348"/>
            <a:ext cx="6005122" cy="6406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A122EC-86F9-9BDF-6BB3-62A1FF676467}"/>
              </a:ext>
            </a:extLst>
          </p:cNvPr>
          <p:cNvSpPr txBox="1"/>
          <p:nvPr/>
        </p:nvSpPr>
        <p:spPr>
          <a:xfrm>
            <a:off x="6864926" y="4180027"/>
            <a:ext cx="4427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Runtime Error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37763D-D7E7-B9FB-973C-4A8A2C8B550F}"/>
              </a:ext>
            </a:extLst>
          </p:cNvPr>
          <p:cNvSpPr txBox="1"/>
          <p:nvPr/>
        </p:nvSpPr>
        <p:spPr>
          <a:xfrm>
            <a:off x="1379913" y="5478087"/>
            <a:ext cx="91523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Result = Double + Int</a:t>
            </a:r>
          </a:p>
          <a:p>
            <a:r>
              <a:rPr lang="en-CA" dirty="0"/>
              <a:t>Result = Double + Double(Int)</a:t>
            </a:r>
          </a:p>
          <a:p>
            <a:r>
              <a:rPr lang="en-CA" dirty="0"/>
              <a:t>Result = Double + Double</a:t>
            </a:r>
          </a:p>
        </p:txBody>
      </p:sp>
      <p:sp>
        <p:nvSpPr>
          <p:cNvPr id="12" name="Arrow: Curved Left 11">
            <a:extLst>
              <a:ext uri="{FF2B5EF4-FFF2-40B4-BE49-F238E27FC236}">
                <a16:creationId xmlns:a16="http://schemas.microsoft.com/office/drawing/2014/main" id="{D93BA173-89EE-052F-486D-FB2188031D64}"/>
              </a:ext>
            </a:extLst>
          </p:cNvPr>
          <p:cNvSpPr/>
          <p:nvPr/>
        </p:nvSpPr>
        <p:spPr>
          <a:xfrm>
            <a:off x="4821382" y="5586153"/>
            <a:ext cx="681643" cy="448887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E6479FE4-3354-EBC7-EA7C-5F0027998A48}"/>
              </a:ext>
            </a:extLst>
          </p:cNvPr>
          <p:cNvSpPr/>
          <p:nvPr/>
        </p:nvSpPr>
        <p:spPr>
          <a:xfrm>
            <a:off x="5040284" y="5835075"/>
            <a:ext cx="681643" cy="448887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616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5C867-30EB-FABE-0C1D-73B4D0277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Static type checking: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F8023-BFD7-C79B-4E89-55CE3DE21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762" y="2108952"/>
            <a:ext cx="6945376" cy="1519554"/>
          </a:xfrm>
        </p:spPr>
        <p:txBody>
          <a:bodyPr/>
          <a:lstStyle/>
          <a:p>
            <a:r>
              <a:rPr lang="en-CA" dirty="0"/>
              <a:t>Statically Typed language</a:t>
            </a:r>
          </a:p>
          <a:p>
            <a:pPr lvl="1"/>
            <a:r>
              <a:rPr lang="en-CA" dirty="0"/>
              <a:t>Variables cannot change type during runtime</a:t>
            </a:r>
          </a:p>
          <a:p>
            <a:pPr lvl="1"/>
            <a:r>
              <a:rPr lang="en-CA" dirty="0"/>
              <a:t>Variables need to be given an explicit data 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8A70A2-C131-438F-FA60-371585448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634" y="3552736"/>
            <a:ext cx="4571364" cy="1004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4D0CB5-96EC-82AA-15FF-F0EB0A8A8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769" y="5534090"/>
            <a:ext cx="3057952" cy="295316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88717C37-BD30-1DB3-E149-05573608F6EC}"/>
              </a:ext>
            </a:extLst>
          </p:cNvPr>
          <p:cNvSpPr/>
          <p:nvPr/>
        </p:nvSpPr>
        <p:spPr>
          <a:xfrm rot="20696412">
            <a:off x="2006703" y="4770712"/>
            <a:ext cx="216131" cy="7481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1AB2E861-696C-502B-5F41-1365A1E1978E}"/>
              </a:ext>
            </a:extLst>
          </p:cNvPr>
          <p:cNvSpPr/>
          <p:nvPr/>
        </p:nvSpPr>
        <p:spPr>
          <a:xfrm rot="1616431">
            <a:off x="3863212" y="4770713"/>
            <a:ext cx="216131" cy="7481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4C4433-AB51-B2EB-7366-795967C1AE23}"/>
              </a:ext>
            </a:extLst>
          </p:cNvPr>
          <p:cNvSpPr txBox="1">
            <a:spLocks/>
          </p:cNvSpPr>
          <p:nvPr/>
        </p:nvSpPr>
        <p:spPr>
          <a:xfrm>
            <a:off x="932426" y="4054794"/>
            <a:ext cx="5546067" cy="76487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1400" dirty="0"/>
              <a:t>function’s return type                function argument type</a:t>
            </a:r>
          </a:p>
        </p:txBody>
      </p:sp>
    </p:spTree>
    <p:extLst>
      <p:ext uri="{BB962C8B-B14F-4D97-AF65-F5344CB8AC3E}">
        <p14:creationId xmlns:p14="http://schemas.microsoft.com/office/powerpoint/2010/main" val="3182560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C0802-7040-468F-5C61-8A213E95E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44EB-5F63-306C-2C65-BD604D25E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 type coercion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EA35D34-165F-8573-8E58-1AF53D2656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4184" y="3668007"/>
            <a:ext cx="5790572" cy="1402942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57303D-5A7D-4159-C8FC-7155CE33F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271" y="5355974"/>
            <a:ext cx="3408080" cy="1294208"/>
          </a:xfrm>
          <a:prstGeom prst="rect">
            <a:avLst/>
          </a:prstGeom>
        </p:spPr>
      </p:pic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62345D84-DEEA-7251-64B3-AB2153509E7D}"/>
              </a:ext>
            </a:extLst>
          </p:cNvPr>
          <p:cNvSpPr/>
          <p:nvPr/>
        </p:nvSpPr>
        <p:spPr>
          <a:xfrm>
            <a:off x="3528315" y="2379687"/>
            <a:ext cx="1781695" cy="1049313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4.0 is deemed a suitable replacement for 4.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0EC825EA-EBC9-2896-28AC-DDA5EE03CFB4}"/>
              </a:ext>
            </a:extLst>
          </p:cNvPr>
          <p:cNvSpPr/>
          <p:nvPr/>
        </p:nvSpPr>
        <p:spPr>
          <a:xfrm>
            <a:off x="8873715" y="3961516"/>
            <a:ext cx="1781695" cy="1049313"/>
          </a:xfrm>
          <a:prstGeom prst="wedgeRoundRectCallout">
            <a:avLst>
              <a:gd name="adj1" fmla="val -108080"/>
              <a:gd name="adj2" fmla="val 1734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Same for ‘4.0’</a:t>
            </a:r>
          </a:p>
        </p:txBody>
      </p:sp>
    </p:spTree>
    <p:extLst>
      <p:ext uri="{BB962C8B-B14F-4D97-AF65-F5344CB8AC3E}">
        <p14:creationId xmlns:p14="http://schemas.microsoft.com/office/powerpoint/2010/main" val="1593225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DAFCB-7E1C-CF21-7E93-B7C0B7A3F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40A62-5AF2-DECE-CBA7-DE342D4A7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 vs a more strict language: Ada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C446E4-4BB3-0830-FD09-65F869C15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301" y="4089862"/>
            <a:ext cx="6933888" cy="27681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FBDB7C-A3E2-1F6E-CACA-2444078AA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36374"/>
            <a:ext cx="5469775" cy="2153488"/>
          </a:xfrm>
          <a:prstGeom prst="rect">
            <a:avLst/>
          </a:prstGeom>
        </p:spPr>
      </p:pic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A571A664-955D-CDA0-7BF9-45A87B9372AA}"/>
              </a:ext>
            </a:extLst>
          </p:cNvPr>
          <p:cNvSpPr/>
          <p:nvPr/>
        </p:nvSpPr>
        <p:spPr>
          <a:xfrm>
            <a:off x="2734887" y="4405745"/>
            <a:ext cx="2169622" cy="22860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870A56-B31A-E7A2-677B-83C8CF5C997E}"/>
              </a:ext>
            </a:extLst>
          </p:cNvPr>
          <p:cNvSpPr/>
          <p:nvPr/>
        </p:nvSpPr>
        <p:spPr>
          <a:xfrm rot="2936827">
            <a:off x="6327373" y="3219945"/>
            <a:ext cx="789709" cy="315883"/>
          </a:xfrm>
          <a:prstGeom prst="rect">
            <a:avLst/>
          </a:prstGeom>
          <a:solidFill>
            <a:srgbClr val="61FF0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37DE78-F8B7-23E9-93CC-86D48F8F9088}"/>
              </a:ext>
            </a:extLst>
          </p:cNvPr>
          <p:cNvSpPr/>
          <p:nvPr/>
        </p:nvSpPr>
        <p:spPr>
          <a:xfrm rot="8367062">
            <a:off x="6615254" y="3106901"/>
            <a:ext cx="1184453" cy="315883"/>
          </a:xfrm>
          <a:prstGeom prst="rect">
            <a:avLst/>
          </a:prstGeom>
          <a:solidFill>
            <a:srgbClr val="61FF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9606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3511B-5021-C5EE-4BD7-AA747DF88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90FD2-0ADD-5B93-054E-257525E96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 OOP and type checking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3C327A-3CA4-76B4-3B1A-7A7CBA1A5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110" y="2354369"/>
            <a:ext cx="2743583" cy="847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66EA7C-D4D9-137D-D058-0F859D6BE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804" y="2217278"/>
            <a:ext cx="3810532" cy="12193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5A77ED-4406-BFB3-D0F8-8728A363B23B}"/>
              </a:ext>
            </a:extLst>
          </p:cNvPr>
          <p:cNvSpPr txBox="1"/>
          <p:nvPr/>
        </p:nvSpPr>
        <p:spPr>
          <a:xfrm>
            <a:off x="4089861" y="2593624"/>
            <a:ext cx="318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“Triangle” </a:t>
            </a:r>
            <a:r>
              <a:rPr lang="en-CA" i="1" dirty="0"/>
              <a:t>is a </a:t>
            </a:r>
            <a:r>
              <a:rPr lang="en-CA" dirty="0"/>
              <a:t> “Shape”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BCBB6F-6788-4203-FB5A-798402F38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87" y="4138942"/>
            <a:ext cx="6588469" cy="6091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4F4620-BBFF-7F74-596C-5DCE00F205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756" y="4236288"/>
            <a:ext cx="5191850" cy="666843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3CA17DB7-6C83-CFB3-A30A-FBC6DE5893EC}"/>
              </a:ext>
            </a:extLst>
          </p:cNvPr>
          <p:cNvSpPr/>
          <p:nvPr/>
        </p:nvSpPr>
        <p:spPr>
          <a:xfrm>
            <a:off x="8625840" y="3895045"/>
            <a:ext cx="193040" cy="3412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B090FC81-1D49-BEA7-AB68-211730667AB5}"/>
              </a:ext>
            </a:extLst>
          </p:cNvPr>
          <p:cNvSpPr/>
          <p:nvPr/>
        </p:nvSpPr>
        <p:spPr>
          <a:xfrm>
            <a:off x="10251023" y="3876823"/>
            <a:ext cx="193040" cy="3412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24A8E1-D26A-76CE-8ECF-0A09BB0AD382}"/>
              </a:ext>
            </a:extLst>
          </p:cNvPr>
          <p:cNvSpPr txBox="1"/>
          <p:nvPr/>
        </p:nvSpPr>
        <p:spPr>
          <a:xfrm>
            <a:off x="7614963" y="3465503"/>
            <a:ext cx="1817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Perfectly fine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C4CFB4-6F69-8F2C-E089-AB0CE9783481}"/>
              </a:ext>
            </a:extLst>
          </p:cNvPr>
          <p:cNvSpPr txBox="1"/>
          <p:nvPr/>
        </p:nvSpPr>
        <p:spPr>
          <a:xfrm>
            <a:off x="9432681" y="3481563"/>
            <a:ext cx="318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Compilation error</a:t>
            </a:r>
          </a:p>
        </p:txBody>
      </p:sp>
    </p:spTree>
    <p:extLst>
      <p:ext uri="{BB962C8B-B14F-4D97-AF65-F5344CB8AC3E}">
        <p14:creationId xmlns:p14="http://schemas.microsoft.com/office/powerpoint/2010/main" val="2147996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CF60B-F7DD-E020-1B28-4977788B7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EF13B-D9DA-84B5-B34E-2AB369C9C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More OOP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3FB27E-2DA7-ED66-DE37-06775B409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6804" y="2217278"/>
            <a:ext cx="3810532" cy="12193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B5EB9E-A8C9-299C-97F5-DB61BD9A1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062" y="2504945"/>
            <a:ext cx="2800741" cy="1409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544520-5C7B-5D5E-B373-E2980CB0B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53" y="4911706"/>
            <a:ext cx="4143953" cy="13527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7E9B16C-66D8-CA04-3D22-ABE0FB3649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206" y="2966973"/>
            <a:ext cx="3572374" cy="9240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4002497-D0DB-18E8-B224-8032D8596B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3757" y="4434220"/>
            <a:ext cx="9059539" cy="26673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792A5CC-CEAD-54D5-B0F1-ABF5BEC58D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1432" y="3962475"/>
            <a:ext cx="3200847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374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67071-3E42-7BD2-188F-4A935F711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59638-E3B0-B0F9-7F77-1DAD61414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Similar, but different: C#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FDC7EC-5750-033C-E03E-6099C74FD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2" y="2743077"/>
            <a:ext cx="7687748" cy="523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613F22-611D-C35C-4D99-ABE2ECBC2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496" y="3902789"/>
            <a:ext cx="6354062" cy="1762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A20E35-719E-65E7-F80C-CAFC10DFF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638" y="5665160"/>
            <a:ext cx="4397050" cy="10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645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D4C63-1EFD-14B0-2A84-15FDCF940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30366-8FEF-871B-BEB0-95ED442ED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Structural Equivalence: Go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AA2455-27C2-14EA-FF62-702EC984F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755" y="4401154"/>
            <a:ext cx="4553676" cy="20096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F6A31F-36A7-3376-9E12-C9C490642ACF}"/>
              </a:ext>
            </a:extLst>
          </p:cNvPr>
          <p:cNvSpPr txBox="1"/>
          <p:nvPr/>
        </p:nvSpPr>
        <p:spPr>
          <a:xfrm>
            <a:off x="4838008" y="5381044"/>
            <a:ext cx="2327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Attribute ordering still matters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189E4F-589A-91E5-82B5-98B2EA80F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65" y="2875921"/>
            <a:ext cx="2971554" cy="21506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CF9B48-84D4-59E1-3B51-818E2117B5C0}"/>
              </a:ext>
            </a:extLst>
          </p:cNvPr>
          <p:cNvSpPr txBox="1"/>
          <p:nvPr/>
        </p:nvSpPr>
        <p:spPr>
          <a:xfrm>
            <a:off x="3120043" y="3186545"/>
            <a:ext cx="23275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Both values can’t have distinct names, so a comparison using an unnamed struct is valid.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1D9768-7B99-F454-C5E5-23B46B7AE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8118" y="2113287"/>
            <a:ext cx="2086266" cy="12860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81D99B-8590-9A47-3CA3-01CF124CB0D4}"/>
              </a:ext>
            </a:extLst>
          </p:cNvPr>
          <p:cNvSpPr txBox="1"/>
          <p:nvPr/>
        </p:nvSpPr>
        <p:spPr>
          <a:xfrm>
            <a:off x="7330555" y="2032233"/>
            <a:ext cx="23275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vx</a:t>
            </a:r>
            <a:r>
              <a:rPr lang="en-CA" dirty="0"/>
              <a:t> &amp; </a:t>
            </a:r>
            <a:r>
              <a:rPr lang="en-CA" dirty="0" err="1"/>
              <a:t>vy</a:t>
            </a:r>
            <a:r>
              <a:rPr lang="en-CA" dirty="0"/>
              <a:t> are comparable and even assignable, but tr &amp; </a:t>
            </a:r>
            <a:r>
              <a:rPr lang="en-CA" dirty="0" err="1"/>
              <a:t>vy</a:t>
            </a:r>
            <a:r>
              <a:rPr lang="en-CA" dirty="0"/>
              <a:t> are not, this would cause a compile error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76220F6-0FE9-50CC-9D17-125021B123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927" y="3879465"/>
            <a:ext cx="5268413" cy="33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97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12831-7A81-1023-D2E6-ACCA6470A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F46B3-3A14-8C0E-211C-1C73B9FD3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Dynamic type checking: Python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2B581D-37C0-8393-C1FD-7B4EB8F5C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6952" y="2385500"/>
            <a:ext cx="1733792" cy="1181265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3F4D6E69-03F1-156E-CF76-503CF613B35F}"/>
              </a:ext>
            </a:extLst>
          </p:cNvPr>
          <p:cNvSpPr/>
          <p:nvPr/>
        </p:nvSpPr>
        <p:spPr>
          <a:xfrm>
            <a:off x="2934393" y="4281055"/>
            <a:ext cx="2560320" cy="548640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/>
              <a:t>Error only appears if the program encounters it during runtime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432AF7-337F-42D6-1C62-7D4F2563C615}"/>
              </a:ext>
            </a:extLst>
          </p:cNvPr>
          <p:cNvSpPr txBox="1"/>
          <p:nvPr/>
        </p:nvSpPr>
        <p:spPr>
          <a:xfrm>
            <a:off x="5120641" y="2598851"/>
            <a:ext cx="4289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Same variable, different types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619B71-A891-C0D3-52F4-C315D694C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10" y="4968670"/>
            <a:ext cx="7592485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837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01B97-E644-3A5A-ACDD-4E20C9A83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0C5A-C44E-055B-6E77-CE57AB4E0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Python type hints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58BDEC-9E33-907B-96D8-120212EB0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742" y="4412474"/>
            <a:ext cx="5963482" cy="1590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CA3EFA-4C9D-EDF6-A6E3-CB2EDE82B8D8}"/>
              </a:ext>
            </a:extLst>
          </p:cNvPr>
          <p:cNvSpPr txBox="1"/>
          <p:nvPr/>
        </p:nvSpPr>
        <p:spPr>
          <a:xfrm>
            <a:off x="2984269" y="2917767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‘Optional’ means None is also accepted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D446C598-A477-BFA3-1008-F05E2A94CF1B}"/>
              </a:ext>
            </a:extLst>
          </p:cNvPr>
          <p:cNvSpPr/>
          <p:nvPr/>
        </p:nvSpPr>
        <p:spPr>
          <a:xfrm>
            <a:off x="3973484" y="3998422"/>
            <a:ext cx="207818" cy="5237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Arrow: Bent-Up 6">
            <a:extLst>
              <a:ext uri="{FF2B5EF4-FFF2-40B4-BE49-F238E27FC236}">
                <a16:creationId xmlns:a16="http://schemas.microsoft.com/office/drawing/2014/main" id="{1A17EA72-8139-68B7-6A59-14C5B3E06909}"/>
              </a:ext>
            </a:extLst>
          </p:cNvPr>
          <p:cNvSpPr/>
          <p:nvPr/>
        </p:nvSpPr>
        <p:spPr>
          <a:xfrm>
            <a:off x="4422371" y="4887884"/>
            <a:ext cx="2460567" cy="390698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4049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D642F-A88A-6774-68C7-69947FB98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BE38-3B13-76F9-1D2B-53067C39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Python type hints more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A135EB-911A-46BD-5D00-297094F06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715" y="3123181"/>
            <a:ext cx="6801799" cy="21910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7D63A4-41F9-F51D-3352-6CE9B7A64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980" y="5759110"/>
            <a:ext cx="2534004" cy="743054"/>
          </a:xfrm>
          <a:prstGeom prst="rect">
            <a:avLst/>
          </a:prstGeom>
        </p:spPr>
      </p:pic>
      <p:sp>
        <p:nvSpPr>
          <p:cNvPr id="15" name="Arrow: Left 14">
            <a:extLst>
              <a:ext uri="{FF2B5EF4-FFF2-40B4-BE49-F238E27FC236}">
                <a16:creationId xmlns:a16="http://schemas.microsoft.com/office/drawing/2014/main" id="{9B5D34FF-7C31-F694-57C9-597710983B42}"/>
              </a:ext>
            </a:extLst>
          </p:cNvPr>
          <p:cNvSpPr/>
          <p:nvPr/>
        </p:nvSpPr>
        <p:spPr>
          <a:xfrm rot="19481252">
            <a:off x="1944611" y="5071651"/>
            <a:ext cx="1562414" cy="34322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7F07967-5B7D-872E-9588-EB137645F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4793" y="5566094"/>
            <a:ext cx="447737" cy="79068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D95B296-CDB3-E253-A127-AF5C701A5260}"/>
              </a:ext>
            </a:extLst>
          </p:cNvPr>
          <p:cNvSpPr txBox="1"/>
          <p:nvPr/>
        </p:nvSpPr>
        <p:spPr>
          <a:xfrm>
            <a:off x="8328961" y="5807471"/>
            <a:ext cx="1571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Actual output:</a:t>
            </a:r>
          </a:p>
        </p:txBody>
      </p:sp>
    </p:spTree>
    <p:extLst>
      <p:ext uri="{BB962C8B-B14F-4D97-AF65-F5344CB8AC3E}">
        <p14:creationId xmlns:p14="http://schemas.microsoft.com/office/powerpoint/2010/main" val="1119514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B529A-1525-4F54-D340-87FE2962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AB9C7-F0DE-59D3-2430-05A217973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hlinkClick r:id="rId2"/>
              </a:rPr>
              <a:t>https://ozanagma.medium.com/type-checking-in-java-b84d6f38ba8f</a:t>
            </a:r>
            <a:endParaRPr lang="en-CA" dirty="0"/>
          </a:p>
          <a:p>
            <a:r>
              <a:rPr lang="en-CA" dirty="0">
                <a:hlinkClick r:id="rId3"/>
              </a:rPr>
              <a:t>https://visionx.io/blog/c-sharp-vs-java/#:~:text=Generics%20Implementation%3A%20Generics%20in%20Java,robust%20type%20checking%20and%20reflection</a:t>
            </a:r>
            <a:r>
              <a:rPr lang="en-CA" dirty="0"/>
              <a:t>.</a:t>
            </a:r>
          </a:p>
          <a:p>
            <a:r>
              <a:rPr lang="en-CA" dirty="0">
                <a:hlinkClick r:id="rId4"/>
              </a:rPr>
              <a:t>https://learn.adacore.com/courses/Ada_For_The_CPP_Java_Developer/chapters/05_Type_System.html</a:t>
            </a:r>
            <a:endParaRPr lang="en-CA" dirty="0"/>
          </a:p>
          <a:p>
            <a:r>
              <a:rPr lang="en-CA" dirty="0">
                <a:hlinkClick r:id="rId5"/>
              </a:rPr>
              <a:t>https://learn.microsoft.com/en-us/dotnet/fundamentals/reflection/how-to-examine-and-instantiate-generic-types-with-reflection</a:t>
            </a:r>
            <a:endParaRPr lang="en-CA" dirty="0"/>
          </a:p>
          <a:p>
            <a:r>
              <a:rPr lang="en-CA" dirty="0">
                <a:hlinkClick r:id="rId6"/>
              </a:rPr>
              <a:t>https://stackoverflow.com/questions/46679484/golang-why-named-and-non-named-struct-comparison-with-equal-result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92244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554</TotalTime>
  <Words>318</Words>
  <Application>Microsoft Office PowerPoint</Application>
  <PresentationFormat>Widescreen</PresentationFormat>
  <Paragraphs>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2</vt:lpstr>
      <vt:lpstr>Quotable</vt:lpstr>
      <vt:lpstr>Type checking in modern languages</vt:lpstr>
      <vt:lpstr>Intro to Type Checking</vt:lpstr>
      <vt:lpstr>Static type checking: Java</vt:lpstr>
      <vt:lpstr>Java type coercion</vt:lpstr>
      <vt:lpstr>Java vs a more strict language: Ada</vt:lpstr>
      <vt:lpstr>Java OOP and type checking</vt:lpstr>
      <vt:lpstr>More OOP</vt:lpstr>
      <vt:lpstr>Similar, but different: C#</vt:lpstr>
      <vt:lpstr>Structural Equivalence: Go</vt:lpstr>
      <vt:lpstr>Dynamic type checking: Python</vt:lpstr>
      <vt:lpstr>Python type hints </vt:lpstr>
      <vt:lpstr>Python type hints more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Yannick Vaillancourt</dc:creator>
  <cp:lastModifiedBy>Yannick Vaillancourt</cp:lastModifiedBy>
  <cp:revision>8</cp:revision>
  <dcterms:created xsi:type="dcterms:W3CDTF">2024-11-24T18:34:16Z</dcterms:created>
  <dcterms:modified xsi:type="dcterms:W3CDTF">2024-11-29T00:32:11Z</dcterms:modified>
</cp:coreProperties>
</file>