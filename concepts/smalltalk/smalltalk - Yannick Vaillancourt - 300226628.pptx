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3" r:id="rId3"/>
    <p:sldId id="264" r:id="rId4"/>
    <p:sldId id="262" r:id="rId5"/>
    <p:sldId id="269" r:id="rId6"/>
    <p:sldId id="267" r:id="rId7"/>
    <p:sldId id="268" r:id="rId8"/>
    <p:sldId id="270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FF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43" autoAdjust="0"/>
    <p:restoredTop sz="94660"/>
  </p:normalViewPr>
  <p:slideViewPr>
    <p:cSldViewPr snapToGrid="0">
      <p:cViewPr varScale="1">
        <p:scale>
          <a:sx n="92" d="100"/>
          <a:sy n="92" d="100"/>
        </p:scale>
        <p:origin x="28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609601"/>
            <a:ext cx="8676222" cy="3200400"/>
          </a:xfrm>
        </p:spPr>
        <p:txBody>
          <a:bodyPr anchor="b">
            <a:normAutofit/>
          </a:bodyPr>
          <a:lstStyle>
            <a:lvl1pPr algn="ctr">
              <a:defRPr sz="48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76222" cy="1905000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DD99C5-7C48-461B-94CE-5479AA188392}" type="datetimeFigureOut">
              <a:rPr lang="en-CA" smtClean="0"/>
              <a:t>2024-09-26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C07DD2-D828-4705-8C16-E57A5F1A6D9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724024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DD99C5-7C48-461B-94CE-5479AA188392}" type="datetimeFigureOut">
              <a:rPr lang="en-CA" smtClean="0"/>
              <a:t>2024-09-26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C07DD2-D828-4705-8C16-E57A5F1A6D9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410094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1013" y="3308581"/>
            <a:ext cx="8686800" cy="1468800"/>
          </a:xfrm>
        </p:spPr>
        <p:txBody>
          <a:bodyPr anchor="b"/>
          <a:lstStyle>
            <a:lvl1pPr algn="r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51011" y="4777381"/>
            <a:ext cx="8686801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DD99C5-7C48-461B-94CE-5479AA188392}" type="datetimeFigureOut">
              <a:rPr lang="en-CA" smtClean="0"/>
              <a:t>2024-09-26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C07DD2-D828-4705-8C16-E57A5F1A6D9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878304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2" y="2666999"/>
            <a:ext cx="4876800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612" y="2667000"/>
            <a:ext cx="4876800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DD99C5-7C48-461B-94CE-5479AA188392}" type="datetimeFigureOut">
              <a:rPr lang="en-CA" smtClean="0"/>
              <a:t>2024-09-26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C07DD2-D828-4705-8C16-E57A5F1A6D9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860947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29280" y="2658533"/>
            <a:ext cx="458893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2" y="3243262"/>
            <a:ext cx="4876800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43133" y="2667000"/>
            <a:ext cx="4604280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612" y="3243262"/>
            <a:ext cx="4876801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DD99C5-7C48-461B-94CE-5479AA188392}" type="datetimeFigureOut">
              <a:rPr lang="en-CA" smtClean="0"/>
              <a:t>2024-09-26</a:t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C07DD2-D828-4705-8C16-E57A5F1A6D9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397344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DD99C5-7C48-461B-94CE-5479AA188392}" type="datetimeFigureOut">
              <a:rPr lang="en-CA" smtClean="0"/>
              <a:t>2024-09-26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C07DD2-D828-4705-8C16-E57A5F1A6D9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124897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DD99C5-7C48-461B-94CE-5479AA188392}" type="datetimeFigureOut">
              <a:rPr lang="en-CA" smtClean="0"/>
              <a:t>2024-09-26</a:t>
            </a:fld>
            <a:endParaRPr lang="en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C07DD2-D828-4705-8C16-E57A5F1A6D9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022484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3549121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3812" y="609601"/>
            <a:ext cx="5943601" cy="51816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3549121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DD99C5-7C48-461B-94CE-5479AA188392}" type="datetimeFigureOut">
              <a:rPr lang="en-CA" smtClean="0"/>
              <a:t>2024-09-26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C07DD2-D828-4705-8C16-E57A5F1A6D9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058210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5334001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33733" y="-18288"/>
            <a:ext cx="3276599" cy="690372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5334001" cy="18288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99212" y="5883275"/>
            <a:ext cx="914400" cy="365125"/>
          </a:xfrm>
        </p:spPr>
        <p:txBody>
          <a:bodyPr/>
          <a:lstStyle/>
          <a:p>
            <a:fld id="{0CDD99C5-7C48-461B-94CE-5479AA188392}" type="datetimeFigureOut">
              <a:rPr lang="en-CA" smtClean="0"/>
              <a:t>2024-09-26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2" y="5883275"/>
            <a:ext cx="5105400" cy="365125"/>
          </a:xfrm>
        </p:spPr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42612" y="5883275"/>
            <a:ext cx="322567" cy="365125"/>
          </a:xfrm>
        </p:spPr>
        <p:txBody>
          <a:bodyPr/>
          <a:lstStyle/>
          <a:p>
            <a:fld id="{1EC07DD2-D828-4705-8C16-E57A5F1A6D9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562243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4732865"/>
            <a:ext cx="99060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796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3" y="5299603"/>
            <a:ext cx="99060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DD99C5-7C48-461B-94CE-5479AA188392}" type="datetimeFigureOut">
              <a:rPr lang="en-CA" smtClean="0"/>
              <a:t>2024-09-26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C07DD2-D828-4705-8C16-E57A5F1A6D9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41415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3124199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DD99C5-7C48-461B-94CE-5479AA188392}" type="datetimeFigureOut">
              <a:rPr lang="en-CA" smtClean="0"/>
              <a:t>2024-09-26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C07DD2-D828-4705-8C16-E57A5F1A6D9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581991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buNone/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DD99C5-7C48-461B-94CE-5479AA188392}" type="datetimeFigureOut">
              <a:rPr lang="en-CA" smtClean="0"/>
              <a:t>2024-09-26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C07DD2-D828-4705-8C16-E57A5F1A6D9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2160613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3308581"/>
            <a:ext cx="99060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0" y="4777381"/>
            <a:ext cx="9906001" cy="86040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DD99C5-7C48-461B-94CE-5479AA188392}" type="datetimeFigureOut">
              <a:rPr lang="en-CA" smtClean="0"/>
              <a:t>2024-09-26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C07DD2-D828-4705-8C16-E57A5F1A6D9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8881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886200"/>
            <a:ext cx="9906000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775200"/>
            <a:ext cx="9906000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DD99C5-7C48-461B-94CE-5479AA188392}" type="datetimeFigureOut">
              <a:rPr lang="en-CA" smtClean="0"/>
              <a:t>2024-09-26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C07DD2-D828-4705-8C16-E57A5F1A6D9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28983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505200"/>
            <a:ext cx="99060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DD99C5-7C48-461B-94CE-5479AA188392}" type="datetimeFigureOut">
              <a:rPr lang="en-CA" smtClean="0"/>
              <a:t>2024-09-26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C07DD2-D828-4705-8C16-E57A5F1A6D9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7074516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DD99C5-7C48-461B-94CE-5479AA188392}" type="datetimeFigureOut">
              <a:rPr lang="en-CA" smtClean="0"/>
              <a:t>2024-09-26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C07DD2-D828-4705-8C16-E57A5F1A6D9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822757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609599"/>
            <a:ext cx="2210514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2" y="609600"/>
            <a:ext cx="7543800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DD99C5-7C48-461B-94CE-5479AA188392}" type="datetimeFigureOut">
              <a:rPr lang="en-CA" smtClean="0"/>
              <a:t>2024-09-26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C07DD2-D828-4705-8C16-E57A5F1A6D9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201988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3" y="2666999"/>
            <a:ext cx="9905998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0CDD99C5-7C48-461B-94CE-5479AA188392}" type="datetimeFigureOut">
              <a:rPr lang="en-CA" smtClean="0"/>
              <a:t>2024-09-26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1EC07DD2-D828-4705-8C16-E57A5F1A6D9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215113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gradFill flip="none" rotWithShape="1">
            <a:gsLst>
              <a:gs pos="0">
                <a:schemeClr val="tx1"/>
              </a:gs>
              <a:gs pos="100000">
                <a:schemeClr val="tx1">
                  <a:lumMod val="6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20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8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6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6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92D050"/>
            </a:gs>
            <a:gs pos="100000">
              <a:schemeClr val="tx1">
                <a:lumMod val="65000"/>
              </a:schemeClr>
            </a:gs>
          </a:gsLst>
          <a:lin ang="558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6FE11C-D12D-4466-38C6-C65EE86979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95369" y="525293"/>
            <a:ext cx="8676222" cy="2204937"/>
          </a:xfrm>
        </p:spPr>
        <p:txBody>
          <a:bodyPr/>
          <a:lstStyle/>
          <a:p>
            <a:r>
              <a:rPr lang="en-CA" dirty="0"/>
              <a:t> </a:t>
            </a:r>
            <a:r>
              <a:rPr lang="en-CA" dirty="0" err="1"/>
              <a:t>jk</a:t>
            </a:r>
            <a:r>
              <a:rPr lang="en-CA" dirty="0"/>
              <a:t>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CA9524-516F-0F9C-283E-D4EAF0B066B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A" dirty="0">
                <a:solidFill>
                  <a:schemeClr val="bg1"/>
                </a:solidFill>
              </a:rPr>
              <a:t> </a:t>
            </a:r>
          </a:p>
        </p:txBody>
      </p:sp>
      <p:pic>
        <p:nvPicPr>
          <p:cNvPr id="5" name="Picture 4" descr="A magazine cover with a colorful hot air balloon&#10;&#10;Description automatically generated">
            <a:extLst>
              <a:ext uri="{FF2B5EF4-FFF2-40B4-BE49-F238E27FC236}">
                <a16:creationId xmlns:a16="http://schemas.microsoft.com/office/drawing/2014/main" id="{D52CBD10-D447-F4A8-0285-016057A115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0890" y="0"/>
            <a:ext cx="1222289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2EBDACB-E3AB-6E82-6A20-3733F73B4FE3}"/>
              </a:ext>
            </a:extLst>
          </p:cNvPr>
          <p:cNvSpPr txBox="1"/>
          <p:nvPr/>
        </p:nvSpPr>
        <p:spPr>
          <a:xfrm>
            <a:off x="631767" y="5685905"/>
            <a:ext cx="35827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solidFill>
                  <a:schemeClr val="bg1"/>
                </a:solidFill>
              </a:rPr>
              <a:t>By: Yannick Vaillancourt –</a:t>
            </a:r>
          </a:p>
          <a:p>
            <a:r>
              <a:rPr lang="en-CA" dirty="0">
                <a:solidFill>
                  <a:schemeClr val="bg1"/>
                </a:solidFill>
              </a:rPr>
              <a:t>300226628</a:t>
            </a:r>
          </a:p>
        </p:txBody>
      </p:sp>
    </p:spTree>
    <p:extLst>
      <p:ext uri="{BB962C8B-B14F-4D97-AF65-F5344CB8AC3E}">
        <p14:creationId xmlns:p14="http://schemas.microsoft.com/office/powerpoint/2010/main" val="12184855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wdDnDiag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ircle: Hollow 4">
            <a:extLst>
              <a:ext uri="{FF2B5EF4-FFF2-40B4-BE49-F238E27FC236}">
                <a16:creationId xmlns:a16="http://schemas.microsoft.com/office/drawing/2014/main" id="{7775EC6F-1CE9-702D-E2B2-F465F6963708}"/>
              </a:ext>
            </a:extLst>
          </p:cNvPr>
          <p:cNvSpPr/>
          <p:nvPr/>
        </p:nvSpPr>
        <p:spPr>
          <a:xfrm>
            <a:off x="1293779" y="5338053"/>
            <a:ext cx="3039894" cy="3039894"/>
          </a:xfrm>
          <a:prstGeom prst="donut">
            <a:avLst>
              <a:gd name="adj" fmla="val 17638"/>
            </a:avLst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srgbClr val="FFC000"/>
              </a:solidFill>
            </a:endParaRPr>
          </a:p>
        </p:txBody>
      </p:sp>
      <p:sp>
        <p:nvSpPr>
          <p:cNvPr id="6" name="Circle: Hollow 5">
            <a:extLst>
              <a:ext uri="{FF2B5EF4-FFF2-40B4-BE49-F238E27FC236}">
                <a16:creationId xmlns:a16="http://schemas.microsoft.com/office/drawing/2014/main" id="{D5DE530A-F710-6488-5754-C3D0C98D3726}"/>
              </a:ext>
            </a:extLst>
          </p:cNvPr>
          <p:cNvSpPr/>
          <p:nvPr/>
        </p:nvSpPr>
        <p:spPr>
          <a:xfrm>
            <a:off x="10798513" y="1909053"/>
            <a:ext cx="3039894" cy="3039894"/>
          </a:xfrm>
          <a:prstGeom prst="donut">
            <a:avLst>
              <a:gd name="adj" fmla="val 17638"/>
            </a:avLst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srgbClr val="FFC0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BDDCEF7-D77B-BD64-EC59-AF70A2155767}"/>
              </a:ext>
            </a:extLst>
          </p:cNvPr>
          <p:cNvSpPr txBox="1"/>
          <p:nvPr/>
        </p:nvSpPr>
        <p:spPr>
          <a:xfrm>
            <a:off x="243840" y="213360"/>
            <a:ext cx="97688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3200" dirty="0"/>
              <a:t>Small(talk) Beginnings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418B857-A4D2-7D2A-D9B3-FF842C996E9D}"/>
              </a:ext>
            </a:extLst>
          </p:cNvPr>
          <p:cNvSpPr txBox="1"/>
          <p:nvPr/>
        </p:nvSpPr>
        <p:spPr>
          <a:xfrm>
            <a:off x="243840" y="1179526"/>
            <a:ext cx="652789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CA" dirty="0"/>
              <a:t>Goals of OOP</a:t>
            </a:r>
          </a:p>
          <a:p>
            <a:pPr lvl="1"/>
            <a:r>
              <a:rPr lang="en-CA" dirty="0"/>
              <a:t>-   Simplify handling complex systems</a:t>
            </a:r>
          </a:p>
          <a:p>
            <a:pPr marL="742950" lvl="1" indent="-285750">
              <a:buFontTx/>
              <a:buChar char="-"/>
            </a:pPr>
            <a:r>
              <a:rPr lang="en-CA" dirty="0"/>
              <a:t>Allow hiding details (i.e. encapsulation)</a:t>
            </a:r>
          </a:p>
          <a:p>
            <a:pPr marL="285750" indent="-285750">
              <a:buFontTx/>
              <a:buChar char="-"/>
            </a:pPr>
            <a:r>
              <a:rPr lang="en-CA" dirty="0"/>
              <a:t>Goals of Smalltalk</a:t>
            </a:r>
          </a:p>
          <a:p>
            <a:pPr marL="742950" lvl="1" indent="-285750">
              <a:buFontTx/>
              <a:buChar char="-"/>
            </a:pPr>
            <a:r>
              <a:rPr lang="en-CA" dirty="0"/>
              <a:t>Pure OOP (OOP whether you like it or not) </a:t>
            </a:r>
          </a:p>
          <a:p>
            <a:pPr marL="742950" lvl="1" indent="-285750">
              <a:buFontTx/>
              <a:buChar char="-"/>
            </a:pPr>
            <a:r>
              <a:rPr lang="en-CA" dirty="0"/>
              <a:t>Consistent representation</a:t>
            </a:r>
          </a:p>
          <a:p>
            <a:pPr marL="742950" lvl="1" indent="-285750">
              <a:buFontTx/>
              <a:buChar char="-"/>
            </a:pPr>
            <a:r>
              <a:rPr lang="en-CA" dirty="0"/>
              <a:t>Low learning curve </a:t>
            </a:r>
          </a:p>
          <a:p>
            <a:pPr marL="742950" lvl="1" indent="-285750">
              <a:buFontTx/>
              <a:buChar char="-"/>
            </a:pPr>
            <a:r>
              <a:rPr lang="en-CA" dirty="0"/>
              <a:t>Recursive Design</a:t>
            </a:r>
          </a:p>
          <a:p>
            <a:pPr marL="1200150" lvl="2" indent="-285750">
              <a:buFontTx/>
              <a:buChar char="-"/>
            </a:pPr>
            <a:r>
              <a:rPr lang="en-CA" dirty="0"/>
              <a:t>Divide computers into small computers</a:t>
            </a:r>
          </a:p>
          <a:p>
            <a:pPr marL="742950" lvl="1" indent="-285750">
              <a:buFontTx/>
              <a:buChar char="-"/>
            </a:pPr>
            <a:endParaRPr lang="en-CA" dirty="0"/>
          </a:p>
        </p:txBody>
      </p:sp>
      <p:pic>
        <p:nvPicPr>
          <p:cNvPr id="2050" name="Picture 2" descr="Alan Kay - Wikiquote">
            <a:extLst>
              <a:ext uri="{FF2B5EF4-FFF2-40B4-BE49-F238E27FC236}">
                <a16:creationId xmlns:a16="http://schemas.microsoft.com/office/drawing/2014/main" id="{192422A7-21BB-1444-7C0E-9102A589DA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59868" y="320512"/>
            <a:ext cx="2064582" cy="28623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5B38DA7-8731-6641-02EE-7E2334308CA3}"/>
              </a:ext>
            </a:extLst>
          </p:cNvPr>
          <p:cNvSpPr txBox="1"/>
          <p:nvPr/>
        </p:nvSpPr>
        <p:spPr>
          <a:xfrm>
            <a:off x="5877900" y="3182834"/>
            <a:ext cx="292583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3200" b="0" dirty="0">
                <a:effectLst/>
                <a:latin typeface="Helvetica Neue"/>
              </a:rPr>
              <a:t>Alan C. Kay</a:t>
            </a:r>
          </a:p>
          <a:p>
            <a:r>
              <a:rPr lang="en-CA" sz="1600" dirty="0">
                <a:latin typeface="Helvetica Neue"/>
              </a:rPr>
              <a:t>Original designer of Smalltalk</a:t>
            </a:r>
            <a:endParaRPr lang="en-CA" sz="3200" dirty="0"/>
          </a:p>
        </p:txBody>
      </p:sp>
      <p:pic>
        <p:nvPicPr>
          <p:cNvPr id="3" name="Picture 2" descr="A diagram of a company structure&#10;&#10;Description automatically generated">
            <a:extLst>
              <a:ext uri="{FF2B5EF4-FFF2-40B4-BE49-F238E27FC236}">
                <a16:creationId xmlns:a16="http://schemas.microsoft.com/office/drawing/2014/main" id="{353E8022-95DF-85A0-348A-C19D185DF14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204" y="3879931"/>
            <a:ext cx="2925839" cy="245064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05BBEEC-837C-6F74-2534-1BA2D3368A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4263058"/>
            <a:ext cx="3801005" cy="2381582"/>
          </a:xfrm>
          <a:prstGeom prst="rect">
            <a:avLst/>
          </a:prstGeom>
        </p:spPr>
      </p:pic>
      <p:pic>
        <p:nvPicPr>
          <p:cNvPr id="1026" name="Picture 2" descr="Dan Ingalls - Wikipedia">
            <a:extLst>
              <a:ext uri="{FF2B5EF4-FFF2-40B4-BE49-F238E27FC236}">
                <a16:creationId xmlns:a16="http://schemas.microsoft.com/office/drawing/2014/main" id="{35E66421-DF32-6341-302E-E1A5AA945A0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98" r="18913"/>
          <a:stretch/>
        </p:blipFill>
        <p:spPr bwMode="auto">
          <a:xfrm>
            <a:off x="8829413" y="505747"/>
            <a:ext cx="1284921" cy="22678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5AD5380-62F8-9575-0F95-607B6955DFAF}"/>
              </a:ext>
            </a:extLst>
          </p:cNvPr>
          <p:cNvSpPr txBox="1"/>
          <p:nvPr/>
        </p:nvSpPr>
        <p:spPr>
          <a:xfrm>
            <a:off x="8803739" y="2773642"/>
            <a:ext cx="15268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Dan </a:t>
            </a:r>
            <a:r>
              <a:rPr lang="en-CA" b="0" i="0" dirty="0">
                <a:effectLst/>
                <a:latin typeface="Arial" panose="020B0604020202020204" pitchFamily="34" charset="0"/>
              </a:rPr>
              <a:t>Ingalls</a:t>
            </a:r>
            <a:endParaRPr lang="en-CA" dirty="0"/>
          </a:p>
        </p:txBody>
      </p:sp>
      <p:pic>
        <p:nvPicPr>
          <p:cNvPr id="1028" name="Picture 4" descr="Adele Goldberg at Xerox PARC - CHM Revolution">
            <a:extLst>
              <a:ext uri="{FF2B5EF4-FFF2-40B4-BE49-F238E27FC236}">
                <a16:creationId xmlns:a16="http://schemas.microsoft.com/office/drawing/2014/main" id="{29B107B5-6788-35AD-C05E-2E4C0C0A61E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072" r="16449" b="12877"/>
          <a:stretch/>
        </p:blipFill>
        <p:spPr bwMode="auto">
          <a:xfrm>
            <a:off x="10291969" y="437910"/>
            <a:ext cx="1526829" cy="23357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5DE129E-BEC4-43DB-E4CD-543895A5AAED}"/>
              </a:ext>
            </a:extLst>
          </p:cNvPr>
          <p:cNvSpPr txBox="1"/>
          <p:nvPr/>
        </p:nvSpPr>
        <p:spPr>
          <a:xfrm>
            <a:off x="10435341" y="2824280"/>
            <a:ext cx="12849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Adele Goldberg</a:t>
            </a:r>
          </a:p>
        </p:txBody>
      </p:sp>
    </p:spTree>
    <p:extLst>
      <p:ext uri="{BB962C8B-B14F-4D97-AF65-F5344CB8AC3E}">
        <p14:creationId xmlns:p14="http://schemas.microsoft.com/office/powerpoint/2010/main" val="13943304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wdDnDiag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ircle: Hollow 4">
            <a:extLst>
              <a:ext uri="{FF2B5EF4-FFF2-40B4-BE49-F238E27FC236}">
                <a16:creationId xmlns:a16="http://schemas.microsoft.com/office/drawing/2014/main" id="{7775EC6F-1CE9-702D-E2B2-F465F6963708}"/>
              </a:ext>
            </a:extLst>
          </p:cNvPr>
          <p:cNvSpPr/>
          <p:nvPr/>
        </p:nvSpPr>
        <p:spPr>
          <a:xfrm>
            <a:off x="1293779" y="5338053"/>
            <a:ext cx="3039894" cy="3039894"/>
          </a:xfrm>
          <a:prstGeom prst="donut">
            <a:avLst>
              <a:gd name="adj" fmla="val 17638"/>
            </a:avLst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srgbClr val="FFC000"/>
              </a:solidFill>
            </a:endParaRPr>
          </a:p>
        </p:txBody>
      </p:sp>
      <p:sp>
        <p:nvSpPr>
          <p:cNvPr id="6" name="Circle: Hollow 5">
            <a:extLst>
              <a:ext uri="{FF2B5EF4-FFF2-40B4-BE49-F238E27FC236}">
                <a16:creationId xmlns:a16="http://schemas.microsoft.com/office/drawing/2014/main" id="{D5DE530A-F710-6488-5754-C3D0C98D3726}"/>
              </a:ext>
            </a:extLst>
          </p:cNvPr>
          <p:cNvSpPr/>
          <p:nvPr/>
        </p:nvSpPr>
        <p:spPr>
          <a:xfrm>
            <a:off x="10798513" y="1909053"/>
            <a:ext cx="3039894" cy="3039894"/>
          </a:xfrm>
          <a:prstGeom prst="donut">
            <a:avLst>
              <a:gd name="adj" fmla="val 17638"/>
            </a:avLst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srgbClr val="FFC0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BDDCEF7-D77B-BD64-EC59-AF70A2155767}"/>
              </a:ext>
            </a:extLst>
          </p:cNvPr>
          <p:cNvSpPr txBox="1"/>
          <p:nvPr/>
        </p:nvSpPr>
        <p:spPr>
          <a:xfrm>
            <a:off x="243840" y="213360"/>
            <a:ext cx="58521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4000" dirty="0"/>
              <a:t>Smalltalk inspirations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418B857-A4D2-7D2A-D9B3-FF842C996E9D}"/>
              </a:ext>
            </a:extLst>
          </p:cNvPr>
          <p:cNvSpPr txBox="1"/>
          <p:nvPr/>
        </p:nvSpPr>
        <p:spPr>
          <a:xfrm>
            <a:off x="243840" y="1179526"/>
            <a:ext cx="748284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CA" dirty="0"/>
              <a:t>Sketchpad &amp; Simula</a:t>
            </a:r>
          </a:p>
          <a:p>
            <a:pPr marL="742950" lvl="1" indent="-285750">
              <a:buFontTx/>
              <a:buChar char="-"/>
            </a:pPr>
            <a:r>
              <a:rPr lang="en-CA" dirty="0"/>
              <a:t>Sketchpad</a:t>
            </a:r>
          </a:p>
          <a:p>
            <a:pPr marL="1200150" lvl="2" indent="-285750">
              <a:buFontTx/>
              <a:buChar char="-"/>
            </a:pPr>
            <a:r>
              <a:rPr lang="en-CA" dirty="0"/>
              <a:t>First graphical computing tool Alan encountered.</a:t>
            </a:r>
          </a:p>
          <a:p>
            <a:pPr marL="1200150" lvl="2" indent="-285750">
              <a:buFontTx/>
              <a:buChar char="-"/>
            </a:pPr>
            <a:r>
              <a:rPr lang="en-CA" dirty="0"/>
              <a:t>‘Master drawings’ that produce and manage ‘instance drawings’.</a:t>
            </a:r>
          </a:p>
          <a:p>
            <a:pPr marL="1200150" lvl="2" indent="-285750">
              <a:buFontTx/>
              <a:buChar char="-"/>
            </a:pPr>
            <a:endParaRPr lang="en-CA" dirty="0"/>
          </a:p>
          <a:p>
            <a:pPr marL="742950" lvl="1" indent="-285750">
              <a:buFontTx/>
              <a:buChar char="-"/>
            </a:pPr>
            <a:r>
              <a:rPr lang="en-CA" dirty="0"/>
              <a:t>Simula</a:t>
            </a:r>
          </a:p>
          <a:p>
            <a:pPr marL="1200150" lvl="2" indent="-285750">
              <a:buFontTx/>
              <a:buChar char="-"/>
            </a:pPr>
            <a:r>
              <a:rPr lang="en-CA" dirty="0"/>
              <a:t>Procedural programming language that brought in many OOP building blocks, which shared similarities to Sketchpad objects.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0341AD5-A89A-B94F-E9EF-7474D1D6EC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9405" y="4207465"/>
            <a:ext cx="3826520" cy="243717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03CC934-0249-6417-2351-018811595D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06503" y="213360"/>
            <a:ext cx="2905530" cy="619211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7428304-5B4E-B554-831D-AC8462AC209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560" r="47553" b="45814"/>
          <a:stretch/>
        </p:blipFill>
        <p:spPr>
          <a:xfrm>
            <a:off x="579967" y="4045391"/>
            <a:ext cx="2673777" cy="2585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75821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wdDnDiag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ircle: Hollow 4">
            <a:extLst>
              <a:ext uri="{FF2B5EF4-FFF2-40B4-BE49-F238E27FC236}">
                <a16:creationId xmlns:a16="http://schemas.microsoft.com/office/drawing/2014/main" id="{7775EC6F-1CE9-702D-E2B2-F465F6963708}"/>
              </a:ext>
            </a:extLst>
          </p:cNvPr>
          <p:cNvSpPr/>
          <p:nvPr/>
        </p:nvSpPr>
        <p:spPr>
          <a:xfrm>
            <a:off x="1293779" y="5338053"/>
            <a:ext cx="3039894" cy="3039894"/>
          </a:xfrm>
          <a:prstGeom prst="donut">
            <a:avLst>
              <a:gd name="adj" fmla="val 17638"/>
            </a:avLst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srgbClr val="FFC000"/>
              </a:solidFill>
            </a:endParaRPr>
          </a:p>
        </p:txBody>
      </p:sp>
      <p:sp>
        <p:nvSpPr>
          <p:cNvPr id="6" name="Circle: Hollow 5">
            <a:extLst>
              <a:ext uri="{FF2B5EF4-FFF2-40B4-BE49-F238E27FC236}">
                <a16:creationId xmlns:a16="http://schemas.microsoft.com/office/drawing/2014/main" id="{D5DE530A-F710-6488-5754-C3D0C98D3726}"/>
              </a:ext>
            </a:extLst>
          </p:cNvPr>
          <p:cNvSpPr/>
          <p:nvPr/>
        </p:nvSpPr>
        <p:spPr>
          <a:xfrm>
            <a:off x="10798513" y="1909053"/>
            <a:ext cx="3039894" cy="3039894"/>
          </a:xfrm>
          <a:prstGeom prst="donut">
            <a:avLst>
              <a:gd name="adj" fmla="val 17638"/>
            </a:avLst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srgbClr val="FFC0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BDDCEF7-D77B-BD64-EC59-AF70A2155767}"/>
              </a:ext>
            </a:extLst>
          </p:cNvPr>
          <p:cNvSpPr txBox="1"/>
          <p:nvPr/>
        </p:nvSpPr>
        <p:spPr>
          <a:xfrm>
            <a:off x="243840" y="213360"/>
            <a:ext cx="82905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4800" dirty="0"/>
              <a:t>Early usage in Hardware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418B857-A4D2-7D2A-D9B3-FF842C996E9D}"/>
              </a:ext>
            </a:extLst>
          </p:cNvPr>
          <p:cNvSpPr txBox="1"/>
          <p:nvPr/>
        </p:nvSpPr>
        <p:spPr>
          <a:xfrm>
            <a:off x="243840" y="1179526"/>
            <a:ext cx="902208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CA" dirty="0"/>
              <a:t>Dynabook</a:t>
            </a:r>
          </a:p>
          <a:p>
            <a:pPr marL="742950" lvl="1" indent="-285750">
              <a:buFontTx/>
              <a:buChar char="-"/>
            </a:pPr>
            <a:r>
              <a:rPr lang="en-CA" dirty="0"/>
              <a:t>The first personal, portable computer prototype</a:t>
            </a:r>
          </a:p>
          <a:p>
            <a:pPr marL="742950" lvl="1" indent="-285750">
              <a:buFontTx/>
              <a:buChar char="-"/>
            </a:pPr>
            <a:r>
              <a:rPr lang="en-CA" dirty="0"/>
              <a:t>Intended especially for use in education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AA6AFB0-2220-0480-DAF5-E1B8ABA26A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840" y="3466449"/>
            <a:ext cx="3762182" cy="246191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258A770-EFF9-9F0C-B74A-ED986A1FDB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2523" y="2640842"/>
            <a:ext cx="2941124" cy="3683758"/>
          </a:xfrm>
          <a:prstGeom prst="rect">
            <a:avLst/>
          </a:prstGeom>
        </p:spPr>
      </p:pic>
      <p:sp>
        <p:nvSpPr>
          <p:cNvPr id="14" name="Arrow: Right 13">
            <a:extLst>
              <a:ext uri="{FF2B5EF4-FFF2-40B4-BE49-F238E27FC236}">
                <a16:creationId xmlns:a16="http://schemas.microsoft.com/office/drawing/2014/main" id="{9A099D11-A823-1946-E803-9599A725DC5F}"/>
              </a:ext>
            </a:extLst>
          </p:cNvPr>
          <p:cNvSpPr/>
          <p:nvPr/>
        </p:nvSpPr>
        <p:spPr>
          <a:xfrm>
            <a:off x="7372417" y="4188586"/>
            <a:ext cx="868680" cy="3481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BE24330B-393A-F1AF-F628-CE56BD66A9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72434" y="3066698"/>
            <a:ext cx="3519913" cy="2861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1347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wdDnDiag">
          <a:fgClr>
            <a:srgbClr val="0070C0"/>
          </a:fgClr>
          <a:bgClr>
            <a:srgbClr val="00B0F0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ight Triangle 4">
            <a:extLst>
              <a:ext uri="{FF2B5EF4-FFF2-40B4-BE49-F238E27FC236}">
                <a16:creationId xmlns:a16="http://schemas.microsoft.com/office/drawing/2014/main" id="{C8B77F35-F5BB-9CAE-AFF5-A4762FE4A3F9}"/>
              </a:ext>
            </a:extLst>
          </p:cNvPr>
          <p:cNvSpPr/>
          <p:nvPr/>
        </p:nvSpPr>
        <p:spPr>
          <a:xfrm>
            <a:off x="0" y="2684834"/>
            <a:ext cx="6096000" cy="4173166"/>
          </a:xfrm>
          <a:prstGeom prst="rt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" name="Right Triangle 5">
            <a:extLst>
              <a:ext uri="{FF2B5EF4-FFF2-40B4-BE49-F238E27FC236}">
                <a16:creationId xmlns:a16="http://schemas.microsoft.com/office/drawing/2014/main" id="{F5C6DFD7-8B24-6F80-8A04-85777ED397D1}"/>
              </a:ext>
            </a:extLst>
          </p:cNvPr>
          <p:cNvSpPr/>
          <p:nvPr/>
        </p:nvSpPr>
        <p:spPr>
          <a:xfrm>
            <a:off x="0" y="4889770"/>
            <a:ext cx="12192000" cy="1968229"/>
          </a:xfrm>
          <a:prstGeom prst="rtTriangle">
            <a:avLst/>
          </a:prstGeom>
          <a:solidFill>
            <a:schemeClr val="tx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9B0ACF9-C2E4-26D3-28A0-5F8E8079AF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797" y="1846604"/>
            <a:ext cx="2181529" cy="427732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BE42CAA-D76C-1A0E-5615-326B6DC42C02}"/>
              </a:ext>
            </a:extLst>
          </p:cNvPr>
          <p:cNvSpPr txBox="1"/>
          <p:nvPr/>
        </p:nvSpPr>
        <p:spPr>
          <a:xfrm>
            <a:off x="737418" y="353961"/>
            <a:ext cx="110334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3600" dirty="0"/>
              <a:t>The Smalltalk language (X is an object example)</a:t>
            </a:r>
            <a:r>
              <a:rPr lang="en-CA" sz="3600" dirty="0">
                <a:solidFill>
                  <a:srgbClr val="66FF33"/>
                </a:solidFill>
              </a:rPr>
              <a:t>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968C166-51D6-88B1-05CD-9E80070AB556}"/>
              </a:ext>
            </a:extLst>
          </p:cNvPr>
          <p:cNvSpPr txBox="1"/>
          <p:nvPr/>
        </p:nvSpPr>
        <p:spPr>
          <a:xfrm>
            <a:off x="7064475" y="1669160"/>
            <a:ext cx="13729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solidFill>
                  <a:srgbClr val="FF0000"/>
                </a:solidFill>
                <a:highlight>
                  <a:srgbClr val="00FF00"/>
                </a:highlight>
              </a:rPr>
              <a:t>Message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CA71150-BCF9-B22E-B077-6731642640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6156" y="2926001"/>
            <a:ext cx="5296639" cy="1695687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A58F1895-7C32-FCFC-707A-9C938EF3BEA6}"/>
              </a:ext>
            </a:extLst>
          </p:cNvPr>
          <p:cNvSpPr/>
          <p:nvPr/>
        </p:nvSpPr>
        <p:spPr>
          <a:xfrm>
            <a:off x="4563687" y="3963018"/>
            <a:ext cx="851611" cy="36809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E2E8FDD-3494-014E-7B60-DD7C8E413B01}"/>
              </a:ext>
            </a:extLst>
          </p:cNvPr>
          <p:cNvSpPr/>
          <p:nvPr/>
        </p:nvSpPr>
        <p:spPr>
          <a:xfrm>
            <a:off x="5415298" y="3896172"/>
            <a:ext cx="3908323" cy="450453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BB126E3-1FED-7E8A-A726-8E7D38D39C42}"/>
              </a:ext>
            </a:extLst>
          </p:cNvPr>
          <p:cNvCxnSpPr>
            <a:cxnSpLocks/>
          </p:cNvCxnSpPr>
          <p:nvPr/>
        </p:nvCxnSpPr>
        <p:spPr>
          <a:xfrm flipH="1">
            <a:off x="6754023" y="2089642"/>
            <a:ext cx="727587" cy="168420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9A128F8-645B-36F7-AD94-DC31B06F0F32}"/>
              </a:ext>
            </a:extLst>
          </p:cNvPr>
          <p:cNvCxnSpPr>
            <a:cxnSpLocks/>
          </p:cNvCxnSpPr>
          <p:nvPr/>
        </p:nvCxnSpPr>
        <p:spPr>
          <a:xfrm>
            <a:off x="3695123" y="2103020"/>
            <a:ext cx="943055" cy="171115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28434A1F-5EDB-909B-A0C3-E01AC900F9F2}"/>
              </a:ext>
            </a:extLst>
          </p:cNvPr>
          <p:cNvSpPr txBox="1"/>
          <p:nvPr/>
        </p:nvSpPr>
        <p:spPr>
          <a:xfrm>
            <a:off x="3190754" y="1684096"/>
            <a:ext cx="13729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solidFill>
                  <a:srgbClr val="FF0000"/>
                </a:solidFill>
                <a:highlight>
                  <a:srgbClr val="00FF00"/>
                </a:highlight>
              </a:rPr>
              <a:t>Object</a:t>
            </a:r>
          </a:p>
        </p:txBody>
      </p:sp>
    </p:spTree>
    <p:extLst>
      <p:ext uri="{BB962C8B-B14F-4D97-AF65-F5344CB8AC3E}">
        <p14:creationId xmlns:p14="http://schemas.microsoft.com/office/powerpoint/2010/main" val="28280430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wdDnDiag">
          <a:fgClr>
            <a:srgbClr val="0070C0"/>
          </a:fgClr>
          <a:bgClr>
            <a:srgbClr val="00B0F0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ight Triangle 4">
            <a:extLst>
              <a:ext uri="{FF2B5EF4-FFF2-40B4-BE49-F238E27FC236}">
                <a16:creationId xmlns:a16="http://schemas.microsoft.com/office/drawing/2014/main" id="{C8B77F35-F5BB-9CAE-AFF5-A4762FE4A3F9}"/>
              </a:ext>
            </a:extLst>
          </p:cNvPr>
          <p:cNvSpPr/>
          <p:nvPr/>
        </p:nvSpPr>
        <p:spPr>
          <a:xfrm>
            <a:off x="0" y="2684834"/>
            <a:ext cx="6096000" cy="4173166"/>
          </a:xfrm>
          <a:prstGeom prst="rt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" name="Right Triangle 5">
            <a:extLst>
              <a:ext uri="{FF2B5EF4-FFF2-40B4-BE49-F238E27FC236}">
                <a16:creationId xmlns:a16="http://schemas.microsoft.com/office/drawing/2014/main" id="{F5C6DFD7-8B24-6F80-8A04-85777ED397D1}"/>
              </a:ext>
            </a:extLst>
          </p:cNvPr>
          <p:cNvSpPr/>
          <p:nvPr/>
        </p:nvSpPr>
        <p:spPr>
          <a:xfrm>
            <a:off x="0" y="4889770"/>
            <a:ext cx="12192000" cy="1968229"/>
          </a:xfrm>
          <a:prstGeom prst="rtTriangle">
            <a:avLst/>
          </a:prstGeom>
          <a:solidFill>
            <a:schemeClr val="tx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9B0ACF9-C2E4-26D3-28A0-5F8E8079AF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174" y="1805041"/>
            <a:ext cx="2181529" cy="427732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BE42CAA-D76C-1A0E-5615-326B6DC42C02}"/>
              </a:ext>
            </a:extLst>
          </p:cNvPr>
          <p:cNvSpPr txBox="1"/>
          <p:nvPr/>
        </p:nvSpPr>
        <p:spPr>
          <a:xfrm>
            <a:off x="737419" y="353961"/>
            <a:ext cx="105008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3600" dirty="0"/>
              <a:t>The Smalltalk language</a:t>
            </a:r>
            <a:r>
              <a:rPr lang="en-CA" sz="3600" dirty="0">
                <a:solidFill>
                  <a:srgbClr val="66FF33"/>
                </a:solidFill>
              </a:rPr>
              <a:t>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CA71150-BCF9-B22E-B077-6731642640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7877" y="1194771"/>
            <a:ext cx="5296639" cy="1695687"/>
          </a:xfrm>
          <a:prstGeom prst="rect">
            <a:avLst/>
          </a:prstGeom>
        </p:spPr>
      </p:pic>
      <p:pic>
        <p:nvPicPr>
          <p:cNvPr id="2" name="Picture 1" descr="A diagram of a person&#10;&#10;Description automatically generated">
            <a:extLst>
              <a:ext uri="{FF2B5EF4-FFF2-40B4-BE49-F238E27FC236}">
                <a16:creationId xmlns:a16="http://schemas.microsoft.com/office/drawing/2014/main" id="{30CF638E-FD3A-BEF0-D242-341B60032DD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2698" y="3067265"/>
            <a:ext cx="5073535" cy="1988277"/>
          </a:xfrm>
          <a:prstGeom prst="rect">
            <a:avLst/>
          </a:prstGeom>
        </p:spPr>
      </p:pic>
      <p:cxnSp>
        <p:nvCxnSpPr>
          <p:cNvPr id="13" name="Connector: Elbow 12">
            <a:extLst>
              <a:ext uri="{FF2B5EF4-FFF2-40B4-BE49-F238E27FC236}">
                <a16:creationId xmlns:a16="http://schemas.microsoft.com/office/drawing/2014/main" id="{75B50AD4-A671-1B18-067A-0DE23D6F330F}"/>
              </a:ext>
            </a:extLst>
          </p:cNvPr>
          <p:cNvCxnSpPr>
            <a:cxnSpLocks/>
          </p:cNvCxnSpPr>
          <p:nvPr/>
        </p:nvCxnSpPr>
        <p:spPr>
          <a:xfrm rot="10800000">
            <a:off x="4636800" y="2559286"/>
            <a:ext cx="332510" cy="166254"/>
          </a:xfrm>
          <a:prstGeom prst="bentConnector3">
            <a:avLst>
              <a:gd name="adj1" fmla="val 100000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2946B842-DFDF-FD0E-24B0-D08A7B84507B}"/>
              </a:ext>
            </a:extLst>
          </p:cNvPr>
          <p:cNvSpPr txBox="1"/>
          <p:nvPr/>
        </p:nvSpPr>
        <p:spPr>
          <a:xfrm>
            <a:off x="4969310" y="2521126"/>
            <a:ext cx="24688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solidFill>
                  <a:srgbClr val="FF0000"/>
                </a:solidFill>
                <a:highlight>
                  <a:srgbClr val="00FF00"/>
                </a:highlight>
              </a:rPr>
              <a:t>Returns ‘True’ object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31825FA-1DD8-7D37-D3AD-59EBDED40329}"/>
              </a:ext>
            </a:extLst>
          </p:cNvPr>
          <p:cNvSpPr txBox="1"/>
          <p:nvPr/>
        </p:nvSpPr>
        <p:spPr>
          <a:xfrm>
            <a:off x="2666865" y="5099055"/>
            <a:ext cx="5918662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8800" dirty="0">
                <a:solidFill>
                  <a:srgbClr val="7030A0"/>
                </a:solidFill>
                <a:latin typeface="Brush Script MT" panose="03060802040406070304" pitchFamily="66" charset="0"/>
              </a:rPr>
              <a:t>Polymorphism!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433A933-1602-D0E4-2680-48E66AB76D0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83581" y="3429000"/>
            <a:ext cx="2095792" cy="2267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80121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wdDnDiag">
          <a:fgClr>
            <a:srgbClr val="0070C0"/>
          </a:fgClr>
          <a:bgClr>
            <a:srgbClr val="00B0F0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ight Triangle 4">
            <a:extLst>
              <a:ext uri="{FF2B5EF4-FFF2-40B4-BE49-F238E27FC236}">
                <a16:creationId xmlns:a16="http://schemas.microsoft.com/office/drawing/2014/main" id="{C8B77F35-F5BB-9CAE-AFF5-A4762FE4A3F9}"/>
              </a:ext>
            </a:extLst>
          </p:cNvPr>
          <p:cNvSpPr/>
          <p:nvPr/>
        </p:nvSpPr>
        <p:spPr>
          <a:xfrm>
            <a:off x="0" y="2684834"/>
            <a:ext cx="6096000" cy="4173166"/>
          </a:xfrm>
          <a:prstGeom prst="rt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" name="Right Triangle 5">
            <a:extLst>
              <a:ext uri="{FF2B5EF4-FFF2-40B4-BE49-F238E27FC236}">
                <a16:creationId xmlns:a16="http://schemas.microsoft.com/office/drawing/2014/main" id="{F5C6DFD7-8B24-6F80-8A04-85777ED397D1}"/>
              </a:ext>
            </a:extLst>
          </p:cNvPr>
          <p:cNvSpPr/>
          <p:nvPr/>
        </p:nvSpPr>
        <p:spPr>
          <a:xfrm>
            <a:off x="0" y="4889770"/>
            <a:ext cx="12192000" cy="1968229"/>
          </a:xfrm>
          <a:prstGeom prst="rtTriangle">
            <a:avLst/>
          </a:prstGeom>
          <a:solidFill>
            <a:schemeClr val="tx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BE42CAA-D76C-1A0E-5615-326B6DC42C02}"/>
              </a:ext>
            </a:extLst>
          </p:cNvPr>
          <p:cNvSpPr txBox="1"/>
          <p:nvPr/>
        </p:nvSpPr>
        <p:spPr>
          <a:xfrm>
            <a:off x="737418" y="353961"/>
            <a:ext cx="110334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3600" dirty="0"/>
              <a:t>Other neat developments through Smalltalk </a:t>
            </a:r>
            <a:endParaRPr lang="en-CA" sz="3600" dirty="0">
              <a:solidFill>
                <a:srgbClr val="66FF33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D34EAA2-C215-CEB6-3CA5-C5CAFD02A3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2369" y="1197358"/>
            <a:ext cx="5078452" cy="369241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BD6D079-B69B-04DD-C92F-514E10A68E2D}"/>
              </a:ext>
            </a:extLst>
          </p:cNvPr>
          <p:cNvSpPr txBox="1"/>
          <p:nvPr/>
        </p:nvSpPr>
        <p:spPr>
          <a:xfrm>
            <a:off x="187799" y="1013047"/>
            <a:ext cx="650457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CA" sz="2400" dirty="0">
                <a:ln w="9525">
                  <a:noFill/>
                </a:ln>
                <a:effectLst/>
              </a:rPr>
              <a:t>First fully formed Integrated Development Environment (IDE)</a:t>
            </a:r>
          </a:p>
          <a:p>
            <a:pPr marL="742950" lvl="1" indent="-285750">
              <a:buFontTx/>
              <a:buChar char="-"/>
            </a:pPr>
            <a:r>
              <a:rPr lang="en-CA" sz="2400" dirty="0">
                <a:ln w="9525">
                  <a:noFill/>
                </a:ln>
                <a:effectLst/>
              </a:rPr>
              <a:t>Including a debugger</a:t>
            </a:r>
          </a:p>
          <a:p>
            <a:pPr marL="285750" indent="-285750">
              <a:buFontTx/>
              <a:buChar char="-"/>
            </a:pPr>
            <a:r>
              <a:rPr lang="en-CA" sz="2400" dirty="0">
                <a:ln w="9525">
                  <a:noFill/>
                </a:ln>
                <a:effectLst/>
              </a:rPr>
              <a:t>Pioneered Model-View Controller for GUI design</a:t>
            </a:r>
          </a:p>
          <a:p>
            <a:pPr marL="285750" indent="-285750">
              <a:buFontTx/>
              <a:buChar char="-"/>
            </a:pPr>
            <a:r>
              <a:rPr lang="en-CA" sz="2400" dirty="0">
                <a:ln w="9525">
                  <a:noFill/>
                </a:ln>
                <a:effectLst/>
              </a:rPr>
              <a:t>Contributed to the rise of Test-driven development with </a:t>
            </a:r>
            <a:r>
              <a:rPr lang="en-CA" sz="2400" dirty="0" err="1">
                <a:ln w="9525">
                  <a:noFill/>
                </a:ln>
                <a:effectLst/>
              </a:rPr>
              <a:t>SUnit</a:t>
            </a:r>
            <a:endParaRPr lang="en-CA" sz="2400" dirty="0">
              <a:ln w="9525">
                <a:noFill/>
              </a:ln>
              <a:effectLst/>
            </a:endParaRPr>
          </a:p>
          <a:p>
            <a:pPr marL="285750" indent="-285750">
              <a:buFontTx/>
              <a:buChar char="-"/>
            </a:pPr>
            <a:endParaRPr lang="en-CA" sz="2400" dirty="0">
              <a:ln w="9525">
                <a:noFill/>
              </a:ln>
              <a:effectLst/>
            </a:endParaRPr>
          </a:p>
          <a:p>
            <a:pPr marL="285750" indent="-285750">
              <a:buFontTx/>
              <a:buChar char="-"/>
            </a:pPr>
            <a:endParaRPr lang="en-CA" sz="2400" dirty="0">
              <a:ln w="9525">
                <a:noFill/>
              </a:ln>
              <a:effectLst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11F5A775-8B84-87C9-4878-461812325F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9251" y="3616036"/>
            <a:ext cx="5589486" cy="3328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26165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wdDnDiag">
          <a:fgClr>
            <a:srgbClr val="0070C0"/>
          </a:fgClr>
          <a:bgClr>
            <a:srgbClr val="00B0F0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7CA9524-516F-0F9C-283E-D4EAF0B066B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A" dirty="0">
                <a:solidFill>
                  <a:schemeClr val="bg1"/>
                </a:solidFill>
              </a:rPr>
              <a:t> </a:t>
            </a:r>
          </a:p>
        </p:txBody>
      </p:sp>
      <p:sp>
        <p:nvSpPr>
          <p:cNvPr id="5" name="Right Triangle 4">
            <a:extLst>
              <a:ext uri="{FF2B5EF4-FFF2-40B4-BE49-F238E27FC236}">
                <a16:creationId xmlns:a16="http://schemas.microsoft.com/office/drawing/2014/main" id="{C8B77F35-F5BB-9CAE-AFF5-A4762FE4A3F9}"/>
              </a:ext>
            </a:extLst>
          </p:cNvPr>
          <p:cNvSpPr/>
          <p:nvPr/>
        </p:nvSpPr>
        <p:spPr>
          <a:xfrm>
            <a:off x="0" y="2684834"/>
            <a:ext cx="6096000" cy="4173166"/>
          </a:xfrm>
          <a:prstGeom prst="rt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" name="Right Triangle 5">
            <a:extLst>
              <a:ext uri="{FF2B5EF4-FFF2-40B4-BE49-F238E27FC236}">
                <a16:creationId xmlns:a16="http://schemas.microsoft.com/office/drawing/2014/main" id="{F5C6DFD7-8B24-6F80-8A04-85777ED397D1}"/>
              </a:ext>
            </a:extLst>
          </p:cNvPr>
          <p:cNvSpPr/>
          <p:nvPr/>
        </p:nvSpPr>
        <p:spPr>
          <a:xfrm>
            <a:off x="0" y="4889770"/>
            <a:ext cx="12192000" cy="1968229"/>
          </a:xfrm>
          <a:prstGeom prst="rtTriangle">
            <a:avLst/>
          </a:prstGeom>
          <a:solidFill>
            <a:schemeClr val="tx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F1DE82B-4E1D-81B9-4F4E-BF105B3428BA}"/>
              </a:ext>
            </a:extLst>
          </p:cNvPr>
          <p:cNvSpPr txBox="1"/>
          <p:nvPr/>
        </p:nvSpPr>
        <p:spPr>
          <a:xfrm>
            <a:off x="1244831" y="1388709"/>
            <a:ext cx="60973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dirty="0"/>
              <a:t>https://worrydream.com/EarlyHistoryOfSmalltalk/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4FA5B80-18B0-F7D8-E8C7-906CA413D124}"/>
              </a:ext>
            </a:extLst>
          </p:cNvPr>
          <p:cNvSpPr txBox="1"/>
          <p:nvPr/>
        </p:nvSpPr>
        <p:spPr>
          <a:xfrm>
            <a:off x="1244831" y="1973921"/>
            <a:ext cx="60973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dirty="0"/>
              <a:t>https://learnxinyminutes.com/docs/smalltalk/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DB50432-0151-79F7-B02C-1D530425B2B5}"/>
              </a:ext>
            </a:extLst>
          </p:cNvPr>
          <p:cNvSpPr txBox="1"/>
          <p:nvPr/>
        </p:nvSpPr>
        <p:spPr>
          <a:xfrm>
            <a:off x="1244831" y="2580753"/>
            <a:ext cx="609738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dirty="0"/>
              <a:t>https://www.cincomsmalltalk.com/main/about-us/the-big-influence-of-smalltalk/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9EB7D9C-DD3D-8F5B-D6F8-54CD007604EF}"/>
              </a:ext>
            </a:extLst>
          </p:cNvPr>
          <p:cNvSpPr txBox="1"/>
          <p:nvPr/>
        </p:nvSpPr>
        <p:spPr>
          <a:xfrm>
            <a:off x="482138" y="216131"/>
            <a:ext cx="1034934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4800" dirty="0"/>
              <a:t>References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43A7460-CF5F-AC58-45CC-2EEC1E9C29C6}"/>
              </a:ext>
            </a:extLst>
          </p:cNvPr>
          <p:cNvSpPr txBox="1"/>
          <p:nvPr/>
        </p:nvSpPr>
        <p:spPr>
          <a:xfrm>
            <a:off x="1244831" y="3366807"/>
            <a:ext cx="60973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dirty="0"/>
              <a:t>https://en.wikipedia.org/wiki/Extreme_programming</a:t>
            </a:r>
          </a:p>
        </p:txBody>
      </p:sp>
    </p:spTree>
    <p:extLst>
      <p:ext uri="{BB962C8B-B14F-4D97-AF65-F5344CB8AC3E}">
        <p14:creationId xmlns:p14="http://schemas.microsoft.com/office/powerpoint/2010/main" val="40763211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sh">
  <a:themeElements>
    <a:clrScheme name="Mesh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Mesh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Mesh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B8BE45C0-8141-4D58-8C71-A009BC26FBB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1290</TotalTime>
  <Words>233</Words>
  <Application>Microsoft Office PowerPoint</Application>
  <PresentationFormat>Widescreen</PresentationFormat>
  <Paragraphs>47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Helvetica Neue</vt:lpstr>
      <vt:lpstr>Arial</vt:lpstr>
      <vt:lpstr>Brush Script MT</vt:lpstr>
      <vt:lpstr>Century Gothic</vt:lpstr>
      <vt:lpstr>Mesh</vt:lpstr>
      <vt:lpstr> jk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Yannick Vaillancourt</dc:creator>
  <cp:lastModifiedBy>Yannick Vaillancourt</cp:lastModifiedBy>
  <cp:revision>21</cp:revision>
  <dcterms:created xsi:type="dcterms:W3CDTF">2024-09-17T16:50:19Z</dcterms:created>
  <dcterms:modified xsi:type="dcterms:W3CDTF">2024-09-26T22:44:16Z</dcterms:modified>
</cp:coreProperties>
</file>